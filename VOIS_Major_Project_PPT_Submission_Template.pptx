
<file path=[Content_Types].xml><?xml version="1.0" encoding="utf-8"?>
<Types xmlns="http://schemas.openxmlformats.org/package/2006/content-types">
  <Default Extension="jfif" ContentType="image/jpeg"/>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19"/>
  </p:notesMasterIdLst>
  <p:handoutMasterIdLst>
    <p:handoutMasterId r:id="rId20"/>
  </p:handoutMasterIdLst>
  <p:sldIdLst>
    <p:sldId id="338" r:id="rId5"/>
    <p:sldId id="327" r:id="rId6"/>
    <p:sldId id="315" r:id="rId7"/>
    <p:sldId id="329" r:id="rId8"/>
    <p:sldId id="302" r:id="rId9"/>
    <p:sldId id="339" r:id="rId10"/>
    <p:sldId id="340" r:id="rId11"/>
    <p:sldId id="344" r:id="rId12"/>
    <p:sldId id="345" r:id="rId13"/>
    <p:sldId id="346" r:id="rId14"/>
    <p:sldId id="341" r:id="rId15"/>
    <p:sldId id="342" r:id="rId16"/>
    <p:sldId id="343" r:id="rId17"/>
    <p:sldId id="304"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419AE38-882F-1515-E21D-2DA2765CE3A3}" v="2" dt="2026-09-02T10:33:37.143"/>
    <p1510:client id="{BA573E70-4CE7-E3DA-403D-1D1B358A6CED}" v="45" dt="2026-09-02T10:11:53.372"/>
  </p1510:revLst>
</p1510:revInfo>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719" autoAdjust="0"/>
    <p:restoredTop sz="86094" autoAdjust="0"/>
  </p:normalViewPr>
  <p:slideViewPr>
    <p:cSldViewPr snapToGrid="0">
      <p:cViewPr>
        <p:scale>
          <a:sx n="73" d="100"/>
          <a:sy n="73" d="100"/>
        </p:scale>
        <p:origin x="994" y="67"/>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9/14/2026</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9/14/2026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9/14/2026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9/14/2026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9/14/2026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9/14/2026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9/14/2026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9/14/2026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9/14/2026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9/14/2026</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9/14/2026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9/14/2026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9/14/2026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9/14/2026</a:t>
            </a:fld>
            <a:endParaRPr lang="en-US" sz="1100" dirty="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7.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8.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9.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0.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3" Type="http://schemas.openxmlformats.org/officeDocument/2006/relationships/slide" Target="slide12.xml"/><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201737A-B873-4D1D-8A41-5ABF5184BC8F}"/>
              </a:ext>
            </a:extLst>
          </p:cNvPr>
          <p:cNvSpPr>
            <a:spLocks noGrp="1"/>
          </p:cNvSpPr>
          <p:nvPr>
            <p:ph type="body" sz="quarter" idx="11"/>
          </p:nvPr>
        </p:nvSpPr>
        <p:spPr>
          <a:xfrm>
            <a:off x="465750" y="3828818"/>
            <a:ext cx="7196291" cy="1478906"/>
          </a:xfrm>
        </p:spPr>
        <p:txBody>
          <a:bodyPr vert="horz" lIns="91440" tIns="45720" rIns="91440" bIns="45720" rtlCol="0" anchor="t">
            <a:normAutofit fontScale="70000" lnSpcReduction="20000"/>
          </a:bodyPr>
          <a:lstStyle/>
          <a:p>
            <a:pPr algn="ctr"/>
            <a:endParaRPr lang="en-US" b="0" dirty="0">
              <a:solidFill>
                <a:schemeClr val="tx1"/>
              </a:solidFill>
              <a:latin typeface="Times New Roman" panose="02020603050405020304" pitchFamily="18" charset="0"/>
              <a:cs typeface="Times New Roman" panose="02020603050405020304" pitchFamily="18" charset="0"/>
            </a:endParaRPr>
          </a:p>
          <a:p>
            <a:pPr algn="ctr"/>
            <a:r>
              <a:rPr lang="en-US" sz="3200" b="0" dirty="0">
                <a:solidFill>
                  <a:schemeClr val="tx1"/>
                </a:solidFill>
                <a:latin typeface="Times New Roman" panose="02020603050405020304" pitchFamily="18" charset="0"/>
                <a:cs typeface="Times New Roman" panose="02020603050405020304" pitchFamily="18" charset="0"/>
              </a:rPr>
              <a:t>Student Name- Madapu Indraja </a:t>
            </a:r>
          </a:p>
          <a:p>
            <a:pPr algn="ctr"/>
            <a:r>
              <a:rPr lang="en-US" sz="3200" b="0" dirty="0">
                <a:solidFill>
                  <a:schemeClr val="tx1"/>
                </a:solidFill>
                <a:latin typeface="Times New Roman" panose="02020603050405020304" pitchFamily="18" charset="0"/>
                <a:cs typeface="Times New Roman" panose="02020603050405020304" pitchFamily="18" charset="0"/>
              </a:rPr>
              <a:t>  College Name- Sridevi women’s engineering college</a:t>
            </a:r>
            <a:r>
              <a:rPr lang="en-US" sz="3200" b="0" dirty="0">
                <a:solidFill>
                  <a:schemeClr val="tx1"/>
                </a:solidFill>
              </a:rPr>
              <a:t>    </a:t>
            </a:r>
          </a:p>
          <a:p>
            <a:pPr algn="ctr"/>
            <a:r>
              <a:rPr lang="en-US" sz="3200" dirty="0">
                <a:latin typeface="Times New Roman" panose="02020603050405020304" pitchFamily="18" charset="0"/>
                <a:cs typeface="Times New Roman" panose="02020603050405020304" pitchFamily="18" charset="0"/>
              </a:rPr>
              <a:t>    AICTE STU ID :STU68695f18dab7e1751736088</a:t>
            </a:r>
          </a:p>
          <a:p>
            <a:pPr algn="ctr"/>
            <a:endParaRPr lang="en-IN" sz="3300" b="0" dirty="0">
              <a:solidFill>
                <a:schemeClr val="tx1"/>
              </a:solidFill>
            </a:endParaRPr>
          </a:p>
        </p:txBody>
      </p:sp>
      <p:sp>
        <p:nvSpPr>
          <p:cNvPr id="4" name="Title 3">
            <a:extLst>
              <a:ext uri="{FF2B5EF4-FFF2-40B4-BE49-F238E27FC236}">
                <a16:creationId xmlns:a16="http://schemas.microsoft.com/office/drawing/2014/main" id="{92056599-CDAA-4367-BEF8-31D6E32518C8}"/>
              </a:ext>
            </a:extLst>
          </p:cNvPr>
          <p:cNvSpPr>
            <a:spLocks noGrp="1"/>
          </p:cNvSpPr>
          <p:nvPr>
            <p:ph type="title"/>
          </p:nvPr>
        </p:nvSpPr>
        <p:spPr>
          <a:xfrm>
            <a:off x="451945" y="2620681"/>
            <a:ext cx="10034973" cy="861498"/>
          </a:xfrm>
        </p:spPr>
        <p:txBody>
          <a:bodyPr>
            <a:noAutofit/>
          </a:bodyPr>
          <a:lstStyle/>
          <a:p>
            <a:r>
              <a:rPr lang="en-GB" sz="4000" b="1" dirty="0">
                <a:latin typeface="Times New Roman" panose="02020603050405020304" pitchFamily="18" charset="0"/>
                <a:cs typeface="Times New Roman" panose="02020603050405020304" pitchFamily="18" charset="0"/>
              </a:rPr>
              <a:t>Project Title – seasonal agricultural performance analysis</a:t>
            </a:r>
            <a:endParaRPr lang="en-IN" sz="4000" b="1" dirty="0">
              <a:latin typeface="Times New Roman" panose="02020603050405020304" pitchFamily="18" charset="0"/>
              <a:cs typeface="Times New Roman" panose="02020603050405020304" pitchFamily="18" charset="0"/>
            </a:endParaRPr>
          </a:p>
        </p:txBody>
      </p:sp>
      <p:sp>
        <p:nvSpPr>
          <p:cNvPr id="15" name="Text Placeholder 1">
            <a:extLst>
              <a:ext uri="{FF2B5EF4-FFF2-40B4-BE49-F238E27FC236}">
                <a16:creationId xmlns:a16="http://schemas.microsoft.com/office/drawing/2014/main"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2">
                                            <p:txEl>
                                              <p:pRg st="1" end="1"/>
                                            </p:txEl>
                                          </p:spTgt>
                                        </p:tgtEl>
                                        <p:attrNameLst>
                                          <p:attrName>style.visibility</p:attrName>
                                        </p:attrNameLst>
                                      </p:cBhvr>
                                      <p:to>
                                        <p:strVal val="visible"/>
                                      </p:to>
                                    </p:set>
                                    <p:animEffect transition="in" filter="randombar(horizontal)">
                                      <p:cBhvr>
                                        <p:cTn id="32" dur="500"/>
                                        <p:tgtEl>
                                          <p:spTgt spid="2">
                                            <p:txEl>
                                              <p:pRg st="1" end="1"/>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4" presetClass="entr" presetSubtype="10" fill="hold" grpId="0" nodeType="clickEffect">
                                  <p:stCondLst>
                                    <p:cond delay="0"/>
                                  </p:stCondLst>
                                  <p:childTnLst>
                                    <p:set>
                                      <p:cBhvr>
                                        <p:cTn id="36" dur="1" fill="hold">
                                          <p:stCondLst>
                                            <p:cond delay="0"/>
                                          </p:stCondLst>
                                        </p:cTn>
                                        <p:tgtEl>
                                          <p:spTgt spid="2">
                                            <p:txEl>
                                              <p:pRg st="2" end="2"/>
                                            </p:txEl>
                                          </p:spTgt>
                                        </p:tgtEl>
                                        <p:attrNameLst>
                                          <p:attrName>style.visibility</p:attrName>
                                        </p:attrNameLst>
                                      </p:cBhvr>
                                      <p:to>
                                        <p:strVal val="visible"/>
                                      </p:to>
                                    </p:set>
                                    <p:animEffect transition="in" filter="randombar(horizontal)">
                                      <p:cBhvr>
                                        <p:cTn id="37" dur="500"/>
                                        <p:tgtEl>
                                          <p:spTgt spid="2">
                                            <p:txEl>
                                              <p:pRg st="2" end="2"/>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4" presetClass="entr" presetSubtype="10" fill="hold" grpId="0" nodeType="clickEffect">
                                  <p:stCondLst>
                                    <p:cond delay="0"/>
                                  </p:stCondLst>
                                  <p:childTnLst>
                                    <p:set>
                                      <p:cBhvr>
                                        <p:cTn id="41" dur="1" fill="hold">
                                          <p:stCondLst>
                                            <p:cond delay="0"/>
                                          </p:stCondLst>
                                        </p:cTn>
                                        <p:tgtEl>
                                          <p:spTgt spid="2">
                                            <p:txEl>
                                              <p:pRg st="3" end="3"/>
                                            </p:txEl>
                                          </p:spTgt>
                                        </p:tgtEl>
                                        <p:attrNameLst>
                                          <p:attrName>style.visibility</p:attrName>
                                        </p:attrNameLst>
                                      </p:cBhvr>
                                      <p:to>
                                        <p:strVal val="visible"/>
                                      </p:to>
                                    </p:set>
                                    <p:animEffect transition="in" filter="randombar(horizontal)">
                                      <p:cBhvr>
                                        <p:cTn id="42" dur="500"/>
                                        <p:tgtEl>
                                          <p:spTgt spid="2">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6E4DD1-270B-4C80-AFF0-EB26F132AF36}"/>
              </a:ext>
            </a:extLst>
          </p:cNvPr>
          <p:cNvSpPr>
            <a:spLocks noGrp="1"/>
          </p:cNvSpPr>
          <p:nvPr>
            <p:ph type="body" sz="quarter" idx="12"/>
          </p:nvPr>
        </p:nvSpPr>
        <p:spPr>
          <a:xfrm>
            <a:off x="1036764" y="2102230"/>
            <a:ext cx="6431280" cy="3607987"/>
          </a:xfrm>
        </p:spPr>
        <p:txBody>
          <a:bodyPr vert="horz" lIns="91440" tIns="45720" rIns="91440" bIns="45720" rtlCol="0" anchor="t">
            <a:normAutofit/>
          </a:bodyPr>
          <a:lstStyle/>
          <a:p>
            <a:pPr marL="0" indent="0" algn="just">
              <a:lnSpc>
                <a:spcPct val="100000"/>
              </a:lnSpc>
              <a:buNone/>
            </a:pPr>
            <a:r>
              <a:rPr lang="en-US" b="1" dirty="0">
                <a:latin typeface="Times New Roman" panose="02020603050405020304" pitchFamily="18" charset="0"/>
                <a:cs typeface="Times New Roman" panose="02020603050405020304" pitchFamily="18" charset="0"/>
              </a:rPr>
              <a:t>Market Price Volatility and Seasonal Revenue Disparities</a:t>
            </a:r>
            <a:r>
              <a:rPr lang="en-US" dirty="0">
                <a:latin typeface="Times New Roman" panose="02020603050405020304" pitchFamily="18" charset="0"/>
                <a:cs typeface="Times New Roman" panose="02020603050405020304" pitchFamily="18" charset="0"/>
              </a:rPr>
              <a:t> Agricultural market prices drop during peak harvest seasons due to local oversupply, while off-season prices rise despite low yield availability. Raw crop production data does not correlate seasonal harvest timing with market price trends, leaving farmers unable to schedule plantings for peak financial return. The problem is to analyze seasonal yield output alongside pricing trends to determine optimal harvest and marketing windows that shield farmers from price crashes.</a:t>
            </a:r>
            <a:endParaRPr lang="en-IN" dirty="0">
              <a:latin typeface="Times New Roman" panose="02020603050405020304" pitchFamily="18" charset="0"/>
              <a:cs typeface="Times New Roman" panose="02020603050405020304" pitchFamily="18" charset="0"/>
            </a:endParaRPr>
          </a:p>
        </p:txBody>
      </p:sp>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554906" y="931267"/>
            <a:ext cx="6995604" cy="790111"/>
          </a:xfrm>
        </p:spPr>
        <p:txBody>
          <a:bodyPr>
            <a:normAutofit/>
          </a:bodyPr>
          <a:lstStyle/>
          <a:p>
            <a:r>
              <a:rPr lang="en-US" sz="4000" dirty="0">
                <a:latin typeface="Times New Roman" panose="02020603050405020304" pitchFamily="18" charset="0"/>
                <a:cs typeface="Times New Roman" panose="02020603050405020304" pitchFamily="18" charset="0"/>
              </a:rPr>
              <a:t>PROBLEM  STATEMENT</a:t>
            </a:r>
            <a:endParaRPr lang="en-IN" sz="4000"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BF2FBC7-3552-4F01-BB27-8BEEE74F7277}"/>
              </a:ext>
            </a:extLst>
          </p:cNvPr>
          <p:cNvSpPr>
            <a:spLocks noGrp="1"/>
          </p:cNvSpPr>
          <p:nvPr>
            <p:ph type="title"/>
          </p:nvPr>
        </p:nvSpPr>
        <p:spPr>
          <a:xfrm>
            <a:off x="467359" y="1093076"/>
            <a:ext cx="6276109" cy="294290"/>
          </a:xfrm>
        </p:spPr>
        <p:txBody>
          <a:bodyPr>
            <a:noAutofit/>
          </a:bodyPr>
          <a:lstStyle/>
          <a:p>
            <a:r>
              <a:rPr lang="en-GB" sz="4000" dirty="0">
                <a:latin typeface="Times New Roman" panose="02020603050405020304" pitchFamily="18" charset="0"/>
                <a:cs typeface="Times New Roman" panose="02020603050405020304" pitchFamily="18" charset="0"/>
              </a:rPr>
              <a:t>PROJECT DESCRIPTION</a:t>
            </a:r>
            <a:br>
              <a:rPr lang="en-GB" sz="4000" dirty="0"/>
            </a:br>
            <a:r>
              <a:rPr lang="en-GB" sz="4000" dirty="0"/>
              <a:t> </a:t>
            </a:r>
            <a:br>
              <a:rPr lang="en-GB" sz="4000" dirty="0"/>
            </a:br>
            <a:endParaRPr lang="en-IN" sz="4000" dirty="0"/>
          </a:p>
        </p:txBody>
      </p:sp>
      <p:pic>
        <p:nvPicPr>
          <p:cNvPr id="5" name="Picture 4">
            <a:extLst>
              <a:ext uri="{FF2B5EF4-FFF2-40B4-BE49-F238E27FC236}">
                <a16:creationId xmlns:a16="http://schemas.microsoft.com/office/drawing/2014/main"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
        <p:nvSpPr>
          <p:cNvPr id="4" name="TextBox 3">
            <a:extLst>
              <a:ext uri="{FF2B5EF4-FFF2-40B4-BE49-F238E27FC236}">
                <a16:creationId xmlns:a16="http://schemas.microsoft.com/office/drawing/2014/main" id="{71F941EA-B3B2-67DD-AB8D-54B5E8B755CD}"/>
              </a:ext>
            </a:extLst>
          </p:cNvPr>
          <p:cNvSpPr txBox="1"/>
          <p:nvPr/>
        </p:nvSpPr>
        <p:spPr>
          <a:xfrm>
            <a:off x="467359" y="1972201"/>
            <a:ext cx="8960420" cy="3477875"/>
          </a:xfrm>
          <a:prstGeom prst="rect">
            <a:avLst/>
          </a:prstGeom>
          <a:noFill/>
        </p:spPr>
        <p:txBody>
          <a:bodyPr wrap="square">
            <a:spAutoFit/>
          </a:bodyPr>
          <a:lstStyle/>
          <a:p>
            <a:pPr algn="just"/>
            <a:r>
              <a:rPr lang="en-US" sz="2000" dirty="0">
                <a:latin typeface="Times New Roman" panose="02020603050405020304" pitchFamily="18" charset="0"/>
                <a:cs typeface="Times New Roman" panose="02020603050405020304" pitchFamily="18" charset="0"/>
              </a:rPr>
              <a:t>Agricultural prices often crash right when farmers harvest their crops, simply because the market gets flooded all at once. Conversely, prices shoot up off-season when there is hardly any produce left to sell. This project dives into historical farm data to tackle that exact problem by linking harvest timing and yield volumes directly to real-world market prices    </a:t>
            </a:r>
          </a:p>
          <a:p>
            <a:pPr algn="just"/>
            <a:endParaRPr lang="en-US" sz="2000" dirty="0">
              <a:latin typeface="Times New Roman" panose="02020603050405020304" pitchFamily="18" charset="0"/>
              <a:cs typeface="Times New Roman" panose="02020603050405020304" pitchFamily="18" charset="0"/>
            </a:endParaRPr>
          </a:p>
          <a:p>
            <a:pPr algn="just"/>
            <a:r>
              <a:rPr lang="en-US" sz="2000" dirty="0">
                <a:latin typeface="Times New Roman" panose="02020603050405020304" pitchFamily="18" charset="0"/>
                <a:cs typeface="Times New Roman" panose="02020603050405020304" pitchFamily="18" charset="0"/>
              </a:rPr>
              <a:t>           The main goal of this work is to give farmers, planners, and agricultural officers actionable insights. Instead of sticking to rigid, traditional planting dates, decision-makers can use these findings to stagger crop schedules, schedule harvests for peak price windows, and make smarter use of post-harvest storage to avoid selling at a loss.</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620008" y="876617"/>
            <a:ext cx="10046070" cy="802641"/>
          </a:xfrm>
        </p:spPr>
        <p:txBody>
          <a:bodyPr>
            <a:normAutofit/>
          </a:bodyPr>
          <a:lstStyle/>
          <a:p>
            <a:r>
              <a:rPr lang="en-US" sz="4000" dirty="0">
                <a:latin typeface="Times New Roman" panose="02020603050405020304" pitchFamily="18" charset="0"/>
                <a:cs typeface="Times New Roman" panose="02020603050405020304" pitchFamily="18" charset="0"/>
              </a:rPr>
              <a:t>WHO ARE THE END USERS?</a:t>
            </a:r>
            <a:endParaRPr lang="en-IN" sz="4000" dirty="0">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
        <p:nvSpPr>
          <p:cNvPr id="3" name="Rectangle 1">
            <a:extLst>
              <a:ext uri="{FF2B5EF4-FFF2-40B4-BE49-F238E27FC236}">
                <a16:creationId xmlns:a16="http://schemas.microsoft.com/office/drawing/2014/main" id="{B7870162-1F1D-D2B4-C88E-32DFB63FB241}"/>
              </a:ext>
            </a:extLst>
          </p:cNvPr>
          <p:cNvSpPr>
            <a:spLocks noGrp="1" noChangeArrowheads="1"/>
          </p:cNvSpPr>
          <p:nvPr>
            <p:ph type="body" sz="quarter" idx="12"/>
          </p:nvPr>
        </p:nvSpPr>
        <p:spPr bwMode="auto">
          <a:xfrm>
            <a:off x="720724" y="2270357"/>
            <a:ext cx="7340709" cy="34317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Local Farmers &amp; Farm Cooperatives:</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Small-scale growers and agricultural groups who need simple, practical advice on when to harvest, when to hold produce, and how to avoid selling their crops during steep price crashes. </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Regional Farm Managers &amp; Planners:</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Agricultural professionals responsible for day-to-day operations who need data to schedule planting cycles, manage local field labor, and allocate irrigation and fertilizer efficiently. </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Agricultural Policy Decision-Makers:</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Government and local officers who rely on seasonal market trends to set up cold storage facilities, plan subsidies, and stabilize local food supply chains.</a:t>
            </a:r>
          </a:p>
        </p:txBody>
      </p:sp>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id="{F1FC3E39-8C60-4F64-9838-2A683F25B8C4}"/>
              </a:ext>
            </a:extLst>
          </p:cNvPr>
          <p:cNvPicPr>
            <a:picLocks noChangeAspect="1"/>
          </p:cNvPicPr>
          <p:nvPr/>
        </p:nvPicPr>
        <p:blipFill>
          <a:blip r:embed="rId4"/>
          <a:stretch>
            <a:fillRect/>
          </a:stretch>
        </p:blipFill>
        <p:spPr>
          <a:xfrm flipH="1">
            <a:off x="50800" y="3820160"/>
            <a:ext cx="1727200" cy="3010024"/>
          </a:xfrm>
          <a:prstGeom prst="rect">
            <a:avLst/>
          </a:prstGeom>
        </p:spPr>
      </p:pic>
      <p:sp>
        <p:nvSpPr>
          <p:cNvPr id="7" name="Text Placeholder 6">
            <a:extLst>
              <a:ext uri="{FF2B5EF4-FFF2-40B4-BE49-F238E27FC236}">
                <a16:creationId xmlns:a16="http://schemas.microsoft.com/office/drawing/2014/main" id="{B21C28F5-3CA3-4B78-B5C9-550C00BB3174}"/>
              </a:ext>
            </a:extLst>
          </p:cNvPr>
          <p:cNvSpPr>
            <a:spLocks noGrp="1"/>
          </p:cNvSpPr>
          <p:nvPr>
            <p:ph type="body" sz="quarter" idx="12"/>
          </p:nvPr>
        </p:nvSpPr>
        <p:spPr>
          <a:xfrm>
            <a:off x="1587061" y="1278384"/>
            <a:ext cx="7851229" cy="4859658"/>
          </a:xfrm>
        </p:spPr>
        <p:txBody>
          <a:bodyPr>
            <a:noAutofit/>
          </a:bodyPr>
          <a:lstStyle/>
          <a:p>
            <a:pPr algn="just"/>
            <a:r>
              <a:rPr lang="en-IN" sz="1600" b="1" dirty="0">
                <a:latin typeface="Times New Roman" panose="02020603050405020304" pitchFamily="18" charset="0"/>
                <a:cs typeface="Times New Roman" panose="02020603050405020304" pitchFamily="18" charset="0"/>
              </a:rPr>
              <a:t>Development Environment &amp; Editors</a:t>
            </a:r>
            <a:endParaRPr lang="en-IN" sz="1600" dirty="0">
              <a:latin typeface="Times New Roman" panose="02020603050405020304" pitchFamily="18" charset="0"/>
              <a:cs typeface="Times New Roman" panose="02020603050405020304" pitchFamily="18" charset="0"/>
            </a:endParaRPr>
          </a:p>
          <a:p>
            <a:pPr algn="just"/>
            <a:r>
              <a:rPr lang="en-IN" sz="1600" b="1" dirty="0">
                <a:latin typeface="Times New Roman" panose="02020603050405020304" pitchFamily="18" charset="0"/>
                <a:cs typeface="Times New Roman" panose="02020603050405020304" pitchFamily="18" charset="0"/>
              </a:rPr>
              <a:t>Visual Studio Code (VS Code):</a:t>
            </a:r>
            <a:r>
              <a:rPr lang="en-IN" sz="1600" dirty="0">
                <a:latin typeface="Times New Roman" panose="02020603050405020304" pitchFamily="18" charset="0"/>
                <a:cs typeface="Times New Roman" panose="02020603050405020304" pitchFamily="18" charset="0"/>
              </a:rPr>
              <a:t> The primary Integrated Development Environment (IDE) used to write, execute, and debug the analysis.</a:t>
            </a:r>
          </a:p>
          <a:p>
            <a:pPr algn="just"/>
            <a:r>
              <a:rPr lang="en-IN" sz="1600" b="1" dirty="0">
                <a:latin typeface="Times New Roman" panose="02020603050405020304" pitchFamily="18" charset="0"/>
                <a:cs typeface="Times New Roman" panose="02020603050405020304" pitchFamily="18" charset="0"/>
              </a:rPr>
              <a:t>VS Code Jupyter Extension:</a:t>
            </a:r>
            <a:r>
              <a:rPr lang="en-IN" sz="1600" dirty="0">
                <a:latin typeface="Times New Roman" panose="02020603050405020304" pitchFamily="18" charset="0"/>
                <a:cs typeface="Times New Roman" panose="02020603050405020304" pitchFamily="18" charset="0"/>
              </a:rPr>
              <a:t> Enables native execution of .ipynb notebook cells directly inside VS Code, offering interactive data previews, inline plot rendering, and seamless variable management.</a:t>
            </a:r>
          </a:p>
          <a:p>
            <a:pPr algn="just"/>
            <a:r>
              <a:rPr lang="en-IN" sz="1600" b="1" dirty="0">
                <a:latin typeface="Times New Roman" panose="02020603050405020304" pitchFamily="18" charset="0"/>
                <a:cs typeface="Times New Roman" panose="02020603050405020304" pitchFamily="18" charset="0"/>
              </a:rPr>
              <a:t>Python Extension for VS Code:</a:t>
            </a:r>
            <a:r>
              <a:rPr lang="en-IN" sz="1600" dirty="0">
                <a:latin typeface="Times New Roman" panose="02020603050405020304" pitchFamily="18" charset="0"/>
                <a:cs typeface="Times New Roman" panose="02020603050405020304" pitchFamily="18" charset="0"/>
              </a:rPr>
              <a:t> Provides full Python language support, intelligent code completion (IntelliSense), syntax highlighting, and virtual environment auto-detection.</a:t>
            </a:r>
          </a:p>
          <a:p>
            <a:pPr algn="just"/>
            <a:r>
              <a:rPr lang="en-IN" sz="1600" b="1" dirty="0">
                <a:latin typeface="Times New Roman" panose="02020603050405020304" pitchFamily="18" charset="0"/>
                <a:cs typeface="Times New Roman" panose="02020603050405020304" pitchFamily="18" charset="0"/>
              </a:rPr>
              <a:t>Core Data Stack Executed in VS Code</a:t>
            </a:r>
            <a:endParaRPr lang="en-IN" sz="1600" dirty="0">
              <a:latin typeface="Times New Roman" panose="02020603050405020304" pitchFamily="18" charset="0"/>
              <a:cs typeface="Times New Roman" panose="02020603050405020304" pitchFamily="18" charset="0"/>
            </a:endParaRPr>
          </a:p>
          <a:p>
            <a:pPr algn="just"/>
            <a:r>
              <a:rPr lang="en-IN" sz="1600" b="1" dirty="0">
                <a:latin typeface="Times New Roman" panose="02020603050405020304" pitchFamily="18" charset="0"/>
                <a:cs typeface="Times New Roman" panose="02020603050405020304" pitchFamily="18" charset="0"/>
              </a:rPr>
              <a:t>Pandas &amp; NumPy:</a:t>
            </a:r>
            <a:r>
              <a:rPr lang="en-IN" sz="1600" dirty="0">
                <a:latin typeface="Times New Roman" panose="02020603050405020304" pitchFamily="18" charset="0"/>
                <a:cs typeface="Times New Roman" panose="02020603050405020304" pitchFamily="18" charset="0"/>
              </a:rPr>
              <a:t> For dataset manipulation, filtering, and statistical calculations.</a:t>
            </a:r>
          </a:p>
          <a:p>
            <a:pPr algn="just"/>
            <a:r>
              <a:rPr lang="en-IN" sz="1600" b="1" dirty="0">
                <a:latin typeface="Times New Roman" panose="02020603050405020304" pitchFamily="18" charset="0"/>
                <a:cs typeface="Times New Roman" panose="02020603050405020304" pitchFamily="18" charset="0"/>
              </a:rPr>
              <a:t>Matplotlib &amp; Seaborn:</a:t>
            </a:r>
            <a:r>
              <a:rPr lang="en-IN" sz="1600" dirty="0">
                <a:latin typeface="Times New Roman" panose="02020603050405020304" pitchFamily="18" charset="0"/>
                <a:cs typeface="Times New Roman" panose="02020603050405020304" pitchFamily="18" charset="0"/>
              </a:rPr>
              <a:t> For generating inline plots, charts, and heatmaps within the VS Code interactive window.</a:t>
            </a:r>
          </a:p>
          <a:p>
            <a:pPr lvl="1">
              <a:lnSpc>
                <a:spcPct val="150000"/>
              </a:lnSpc>
            </a:pPr>
            <a:endParaRPr lang="en-IN" dirty="0"/>
          </a:p>
        </p:txBody>
      </p:sp>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660399" y="430567"/>
            <a:ext cx="6108263" cy="847817"/>
          </a:xfrm>
        </p:spPr>
        <p:txBody>
          <a:bodyPr>
            <a:normAutofit fontScale="90000"/>
          </a:bodyPr>
          <a:lstStyle/>
          <a:p>
            <a:r>
              <a:rPr lang="en-US" dirty="0">
                <a:latin typeface="Times New Roman" panose="02020603050405020304" pitchFamily="18" charset="0"/>
                <a:cs typeface="Times New Roman" panose="02020603050405020304" pitchFamily="18" charset="0"/>
              </a:rPr>
              <a:t>TECHNOLOGY USED</a:t>
            </a:r>
          </a:p>
        </p:txBody>
      </p:sp>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xEl>
                                              <p:pRg st="0" end="0"/>
                                            </p:txEl>
                                          </p:spTgt>
                                        </p:tgtEl>
                                        <p:attrNameLst>
                                          <p:attrName>style.visibility</p:attrName>
                                        </p:attrNameLst>
                                      </p:cBhvr>
                                      <p:to>
                                        <p:strVal val="visible"/>
                                      </p:to>
                                    </p:set>
                                    <p:animEffect transition="in" filter="fade">
                                      <p:cBhvr>
                                        <p:cTn id="14" dur="1000"/>
                                        <p:tgtEl>
                                          <p:spTgt spid="7">
                                            <p:txEl>
                                              <p:pRg st="0" end="0"/>
                                            </p:txEl>
                                          </p:spTgt>
                                        </p:tgtEl>
                                      </p:cBhvr>
                                    </p:animEffect>
                                    <p:anim calcmode="lin" valueType="num">
                                      <p:cBhvr>
                                        <p:cTn id="15"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7">
                                            <p:txEl>
                                              <p:pRg st="1" end="1"/>
                                            </p:txEl>
                                          </p:spTgt>
                                        </p:tgtEl>
                                        <p:attrNameLst>
                                          <p:attrName>style.visibility</p:attrName>
                                        </p:attrNameLst>
                                      </p:cBhvr>
                                      <p:to>
                                        <p:strVal val="visible"/>
                                      </p:to>
                                    </p:set>
                                    <p:animEffect transition="in" filter="fade">
                                      <p:cBhvr>
                                        <p:cTn id="21" dur="1000"/>
                                        <p:tgtEl>
                                          <p:spTgt spid="7">
                                            <p:txEl>
                                              <p:pRg st="1" end="1"/>
                                            </p:txEl>
                                          </p:spTgt>
                                        </p:tgtEl>
                                      </p:cBhvr>
                                    </p:animEffect>
                                    <p:anim calcmode="lin" valueType="num">
                                      <p:cBhvr>
                                        <p:cTn id="22"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7">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7">
                                            <p:txEl>
                                              <p:pRg st="2" end="2"/>
                                            </p:txEl>
                                          </p:spTgt>
                                        </p:tgtEl>
                                        <p:attrNameLst>
                                          <p:attrName>style.visibility</p:attrName>
                                        </p:attrNameLst>
                                      </p:cBhvr>
                                      <p:to>
                                        <p:strVal val="visible"/>
                                      </p:to>
                                    </p:set>
                                    <p:animEffect transition="in" filter="fade">
                                      <p:cBhvr>
                                        <p:cTn id="28" dur="1000"/>
                                        <p:tgtEl>
                                          <p:spTgt spid="7">
                                            <p:txEl>
                                              <p:pRg st="2" end="2"/>
                                            </p:txEl>
                                          </p:spTgt>
                                        </p:tgtEl>
                                      </p:cBhvr>
                                    </p:animEffect>
                                    <p:anim calcmode="lin" valueType="num">
                                      <p:cBhvr>
                                        <p:cTn id="29"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7">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7">
                                            <p:txEl>
                                              <p:pRg st="3" end="3"/>
                                            </p:txEl>
                                          </p:spTgt>
                                        </p:tgtEl>
                                        <p:attrNameLst>
                                          <p:attrName>style.visibility</p:attrName>
                                        </p:attrNameLst>
                                      </p:cBhvr>
                                      <p:to>
                                        <p:strVal val="visible"/>
                                      </p:to>
                                    </p:set>
                                    <p:animEffect transition="in" filter="fade">
                                      <p:cBhvr>
                                        <p:cTn id="35" dur="1000"/>
                                        <p:tgtEl>
                                          <p:spTgt spid="7">
                                            <p:txEl>
                                              <p:pRg st="3" end="3"/>
                                            </p:txEl>
                                          </p:spTgt>
                                        </p:tgtEl>
                                      </p:cBhvr>
                                    </p:animEffect>
                                    <p:anim calcmode="lin" valueType="num">
                                      <p:cBhvr>
                                        <p:cTn id="36" dur="1000" fill="hold"/>
                                        <p:tgtEl>
                                          <p:spTgt spid="7">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7">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7">
                                            <p:txEl>
                                              <p:pRg st="4" end="4"/>
                                            </p:txEl>
                                          </p:spTgt>
                                        </p:tgtEl>
                                        <p:attrNameLst>
                                          <p:attrName>style.visibility</p:attrName>
                                        </p:attrNameLst>
                                      </p:cBhvr>
                                      <p:to>
                                        <p:strVal val="visible"/>
                                      </p:to>
                                    </p:set>
                                    <p:animEffect transition="in" filter="fade">
                                      <p:cBhvr>
                                        <p:cTn id="42" dur="1000"/>
                                        <p:tgtEl>
                                          <p:spTgt spid="7">
                                            <p:txEl>
                                              <p:pRg st="4" end="4"/>
                                            </p:txEl>
                                          </p:spTgt>
                                        </p:tgtEl>
                                      </p:cBhvr>
                                    </p:animEffect>
                                    <p:anim calcmode="lin" valueType="num">
                                      <p:cBhvr>
                                        <p:cTn id="43" dur="1000" fill="hold"/>
                                        <p:tgtEl>
                                          <p:spTgt spid="7">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7">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7">
                                            <p:txEl>
                                              <p:pRg st="5" end="5"/>
                                            </p:txEl>
                                          </p:spTgt>
                                        </p:tgtEl>
                                        <p:attrNameLst>
                                          <p:attrName>style.visibility</p:attrName>
                                        </p:attrNameLst>
                                      </p:cBhvr>
                                      <p:to>
                                        <p:strVal val="visible"/>
                                      </p:to>
                                    </p:set>
                                    <p:animEffect transition="in" filter="fade">
                                      <p:cBhvr>
                                        <p:cTn id="49" dur="1000"/>
                                        <p:tgtEl>
                                          <p:spTgt spid="7">
                                            <p:txEl>
                                              <p:pRg st="5" end="5"/>
                                            </p:txEl>
                                          </p:spTgt>
                                        </p:tgtEl>
                                      </p:cBhvr>
                                    </p:animEffect>
                                    <p:anim calcmode="lin" valueType="num">
                                      <p:cBhvr>
                                        <p:cTn id="50" dur="1000" fill="hold"/>
                                        <p:tgtEl>
                                          <p:spTgt spid="7">
                                            <p:txEl>
                                              <p:pRg st="5" end="5"/>
                                            </p:txEl>
                                          </p:spTgt>
                                        </p:tgtEl>
                                        <p:attrNameLst>
                                          <p:attrName>ppt_x</p:attrName>
                                        </p:attrNameLst>
                                      </p:cBhvr>
                                      <p:tavLst>
                                        <p:tav tm="0">
                                          <p:val>
                                            <p:strVal val="#ppt_x"/>
                                          </p:val>
                                        </p:tav>
                                        <p:tav tm="100000">
                                          <p:val>
                                            <p:strVal val="#ppt_x"/>
                                          </p:val>
                                        </p:tav>
                                      </p:tavLst>
                                    </p:anim>
                                    <p:anim calcmode="lin" valueType="num">
                                      <p:cBhvr>
                                        <p:cTn id="51" dur="1000" fill="hold"/>
                                        <p:tgtEl>
                                          <p:spTgt spid="7">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7">
                                            <p:txEl>
                                              <p:pRg st="6" end="6"/>
                                            </p:txEl>
                                          </p:spTgt>
                                        </p:tgtEl>
                                        <p:attrNameLst>
                                          <p:attrName>style.visibility</p:attrName>
                                        </p:attrNameLst>
                                      </p:cBhvr>
                                      <p:to>
                                        <p:strVal val="visible"/>
                                      </p:to>
                                    </p:set>
                                    <p:animEffect transition="in" filter="fade">
                                      <p:cBhvr>
                                        <p:cTn id="56" dur="1000"/>
                                        <p:tgtEl>
                                          <p:spTgt spid="7">
                                            <p:txEl>
                                              <p:pRg st="6" end="6"/>
                                            </p:txEl>
                                          </p:spTgt>
                                        </p:tgtEl>
                                      </p:cBhvr>
                                    </p:animEffect>
                                    <p:anim calcmode="lin" valueType="num">
                                      <p:cBhvr>
                                        <p:cTn id="57" dur="1000" fill="hold"/>
                                        <p:tgtEl>
                                          <p:spTgt spid="7">
                                            <p:txEl>
                                              <p:pRg st="6" end="6"/>
                                            </p:txEl>
                                          </p:spTgt>
                                        </p:tgtEl>
                                        <p:attrNameLst>
                                          <p:attrName>ppt_x</p:attrName>
                                        </p:attrNameLst>
                                      </p:cBhvr>
                                      <p:tavLst>
                                        <p:tav tm="0">
                                          <p:val>
                                            <p:strVal val="#ppt_x"/>
                                          </p:val>
                                        </p:tav>
                                        <p:tav tm="100000">
                                          <p:val>
                                            <p:strVal val="#ppt_x"/>
                                          </p:val>
                                        </p:tav>
                                      </p:tavLst>
                                    </p:anim>
                                    <p:anim calcmode="lin" valueType="num">
                                      <p:cBhvr>
                                        <p:cTn id="58" dur="1000" fill="hold"/>
                                        <p:tgtEl>
                                          <p:spTgt spid="7">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675957" y="370589"/>
            <a:ext cx="2981643" cy="830997"/>
          </a:xfrm>
        </p:spPr>
        <p:txBody>
          <a:bodyPr>
            <a:normAutofit/>
          </a:bodyPr>
          <a:lstStyle/>
          <a:p>
            <a:r>
              <a:rPr lang="en-GB" sz="4000" dirty="0">
                <a:latin typeface="Times New Roman" panose="02020603050405020304" pitchFamily="18" charset="0"/>
                <a:cs typeface="Times New Roman" panose="02020603050405020304" pitchFamily="18" charset="0"/>
              </a:rPr>
              <a:t>RESULTS</a:t>
            </a:r>
            <a:r>
              <a:rPr lang="en-GB" dirty="0"/>
              <a:t> </a:t>
            </a:r>
            <a:endParaRPr lang="en-IN" dirty="0"/>
          </a:p>
        </p:txBody>
      </p:sp>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D47833D0-B484-E7CB-8155-B392002E8E00}"/>
              </a:ext>
            </a:extLst>
          </p:cNvPr>
          <p:cNvPicPr>
            <a:picLocks noChangeAspect="1"/>
          </p:cNvPicPr>
          <p:nvPr/>
        </p:nvPicPr>
        <p:blipFill>
          <a:blip r:embed="rId3"/>
          <a:stretch>
            <a:fillRect/>
          </a:stretch>
        </p:blipFill>
        <p:spPr>
          <a:xfrm>
            <a:off x="150653" y="1201586"/>
            <a:ext cx="9692593" cy="5414682"/>
          </a:xfrm>
          <a:prstGeom prst="rect">
            <a:avLst/>
          </a:prstGeom>
        </p:spPr>
      </p:pic>
    </p:spTree>
    <p:extLst>
      <p:ext uri="{BB962C8B-B14F-4D97-AF65-F5344CB8AC3E}">
        <p14:creationId xmlns:p14="http://schemas.microsoft.com/office/powerpoint/2010/main"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EAAE43-B138-25CD-D01F-41DB388556C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FCF24DA-3CDC-4D87-9335-AB913C783F7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6D5AF756-BADB-9E87-14AC-F87A8C7463BF}"/>
              </a:ext>
            </a:extLst>
          </p:cNvPr>
          <p:cNvSpPr>
            <a:spLocks noGrp="1"/>
          </p:cNvSpPr>
          <p:nvPr>
            <p:ph type="title"/>
          </p:nvPr>
        </p:nvSpPr>
        <p:spPr>
          <a:xfrm>
            <a:off x="675957" y="370589"/>
            <a:ext cx="2981643" cy="830997"/>
          </a:xfrm>
        </p:spPr>
        <p:txBody>
          <a:bodyPr>
            <a:normAutofit/>
          </a:bodyPr>
          <a:lstStyle/>
          <a:p>
            <a:r>
              <a:rPr lang="en-GB" sz="4000" dirty="0">
                <a:latin typeface="Times New Roman" panose="02020603050405020304" pitchFamily="18" charset="0"/>
                <a:cs typeface="Times New Roman" panose="02020603050405020304" pitchFamily="18" charset="0"/>
              </a:rPr>
              <a:t>RESULTS </a:t>
            </a:r>
            <a:endParaRPr lang="en-IN" sz="4000" dirty="0">
              <a:latin typeface="Times New Roman" panose="02020603050405020304" pitchFamily="18" charset="0"/>
              <a:cs typeface="Times New Roman" panose="02020603050405020304" pitchFamily="18" charset="0"/>
            </a:endParaRPr>
          </a:p>
        </p:txBody>
      </p:sp>
      <p:sp>
        <p:nvSpPr>
          <p:cNvPr id="7" name="Text Placeholder 30">
            <a:extLst>
              <a:ext uri="{FF2B5EF4-FFF2-40B4-BE49-F238E27FC236}">
                <a16:creationId xmlns:a16="http://schemas.microsoft.com/office/drawing/2014/main" id="{4716F3BA-AE41-9B35-3BCA-353F205375D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E149068-B429-662F-714A-0DD8CE171A51}"/>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3A64DB11-806F-1A4C-E0D5-D745D29CED50}"/>
              </a:ext>
            </a:extLst>
          </p:cNvPr>
          <p:cNvSpPr>
            <a:spLocks noGrp="1"/>
          </p:cNvSpPr>
          <p:nvPr>
            <p:ph type="body" sz="quarter" idx="12"/>
          </p:nvPr>
        </p:nvSpPr>
        <p:spPr>
          <a:xfrm>
            <a:off x="513230" y="1275371"/>
            <a:ext cx="10601303" cy="6111546"/>
          </a:xfrm>
        </p:spPr>
        <p:txBody>
          <a:bodyPr/>
          <a:lstStyle/>
          <a:p>
            <a:pPr marL="0" indent="0">
              <a:buNone/>
            </a:pPr>
            <a:endParaRPr lang="en-IN" dirty="0"/>
          </a:p>
        </p:txBody>
      </p:sp>
      <p:pic>
        <p:nvPicPr>
          <p:cNvPr id="3" name="Picture 2">
            <a:extLst>
              <a:ext uri="{FF2B5EF4-FFF2-40B4-BE49-F238E27FC236}">
                <a16:creationId xmlns:a16="http://schemas.microsoft.com/office/drawing/2014/main" id="{CC5AFFD8-A1F2-5643-9090-EBAE9FC4F478}"/>
              </a:ext>
            </a:extLst>
          </p:cNvPr>
          <p:cNvPicPr>
            <a:picLocks noChangeAspect="1"/>
          </p:cNvPicPr>
          <p:nvPr/>
        </p:nvPicPr>
        <p:blipFill>
          <a:blip r:embed="rId3"/>
          <a:stretch>
            <a:fillRect/>
          </a:stretch>
        </p:blipFill>
        <p:spPr>
          <a:xfrm>
            <a:off x="199697" y="1033272"/>
            <a:ext cx="9259614" cy="5631688"/>
          </a:xfrm>
          <a:prstGeom prst="rect">
            <a:avLst/>
          </a:prstGeom>
        </p:spPr>
      </p:pic>
    </p:spTree>
    <p:extLst>
      <p:ext uri="{BB962C8B-B14F-4D97-AF65-F5344CB8AC3E}">
        <p14:creationId xmlns:p14="http://schemas.microsoft.com/office/powerpoint/2010/main" val="3849627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nodePh="1">
                                  <p:stCondLst>
                                    <p:cond delay="0"/>
                                  </p:stCondLst>
                                  <p:endCondLst>
                                    <p:cond evt="begin" delay="0">
                                      <p:tn val="26"/>
                                    </p:cond>
                                  </p:end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F9E943-C59C-1D86-29CA-F786C47BABA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EC6E6C7-69F2-D361-F3CC-FC5268D9BC8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DFCD5524-F764-DC63-6F54-D48057CF17B7}"/>
              </a:ext>
            </a:extLst>
          </p:cNvPr>
          <p:cNvSpPr>
            <a:spLocks noGrp="1"/>
          </p:cNvSpPr>
          <p:nvPr>
            <p:ph type="title"/>
          </p:nvPr>
        </p:nvSpPr>
        <p:spPr>
          <a:xfrm>
            <a:off x="675957" y="370589"/>
            <a:ext cx="2981643" cy="830997"/>
          </a:xfrm>
        </p:spPr>
        <p:txBody>
          <a:bodyPr>
            <a:normAutofit/>
          </a:bodyPr>
          <a:lstStyle/>
          <a:p>
            <a:r>
              <a:rPr lang="en-GB" sz="4000" dirty="0">
                <a:latin typeface="Times New Roman" panose="02020603050405020304" pitchFamily="18" charset="0"/>
                <a:cs typeface="Times New Roman" panose="02020603050405020304" pitchFamily="18" charset="0"/>
              </a:rPr>
              <a:t>RESULTS</a:t>
            </a:r>
            <a:r>
              <a:rPr lang="en-GB" dirty="0"/>
              <a:t> </a:t>
            </a:r>
            <a:endParaRPr lang="en-IN" dirty="0"/>
          </a:p>
        </p:txBody>
      </p:sp>
      <p:sp>
        <p:nvSpPr>
          <p:cNvPr id="7" name="Text Placeholder 30">
            <a:extLst>
              <a:ext uri="{FF2B5EF4-FFF2-40B4-BE49-F238E27FC236}">
                <a16:creationId xmlns:a16="http://schemas.microsoft.com/office/drawing/2014/main" id="{4B1E3463-DEAD-53DD-2AC0-E8A458421D0B}"/>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B713140B-3822-90E0-F216-B77A695B86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B6E3B1C7-6A8B-23EE-6251-DC1067C6ADE9}"/>
              </a:ext>
            </a:extLst>
          </p:cNvPr>
          <p:cNvSpPr>
            <a:spLocks noGrp="1"/>
          </p:cNvSpPr>
          <p:nvPr>
            <p:ph type="body" sz="quarter" idx="12"/>
          </p:nvPr>
        </p:nvSpPr>
        <p:spPr>
          <a:xfrm>
            <a:off x="807164" y="1431693"/>
            <a:ext cx="4275138" cy="477520"/>
          </a:xfrm>
        </p:spPr>
        <p:txBody>
          <a:bodyPr/>
          <a:lstStyle/>
          <a:p>
            <a:pPr marL="0" indent="0">
              <a:buNone/>
            </a:pPr>
            <a:endParaRPr lang="en-IN" dirty="0"/>
          </a:p>
        </p:txBody>
      </p:sp>
      <p:pic>
        <p:nvPicPr>
          <p:cNvPr id="9" name="Picture 8">
            <a:extLst>
              <a:ext uri="{FF2B5EF4-FFF2-40B4-BE49-F238E27FC236}">
                <a16:creationId xmlns:a16="http://schemas.microsoft.com/office/drawing/2014/main" id="{860E3F85-C3A4-EAE4-0130-42628564648D}"/>
              </a:ext>
            </a:extLst>
          </p:cNvPr>
          <p:cNvPicPr>
            <a:picLocks noChangeAspect="1"/>
          </p:cNvPicPr>
          <p:nvPr/>
        </p:nvPicPr>
        <p:blipFill>
          <a:blip r:embed="rId3"/>
          <a:stretch>
            <a:fillRect/>
          </a:stretch>
        </p:blipFill>
        <p:spPr>
          <a:xfrm>
            <a:off x="0" y="1431693"/>
            <a:ext cx="9359153" cy="4950342"/>
          </a:xfrm>
          <a:prstGeom prst="rect">
            <a:avLst/>
          </a:prstGeom>
        </p:spPr>
      </p:pic>
    </p:spTree>
    <p:extLst>
      <p:ext uri="{BB962C8B-B14F-4D97-AF65-F5344CB8AC3E}">
        <p14:creationId xmlns:p14="http://schemas.microsoft.com/office/powerpoint/2010/main" val="16989017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nodePh="1">
                                  <p:stCondLst>
                                    <p:cond delay="0"/>
                                  </p:stCondLst>
                                  <p:endCondLst>
                                    <p:cond evt="begin" delay="0">
                                      <p:tn val="26"/>
                                    </p:cond>
                                  </p:end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05AC1B-54F8-474D-6B86-CF23FDF34B0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9D7CE81-8696-30A4-F33E-B4B569D3502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15FD49EE-0956-AAE3-737B-15F7D4267C1A}"/>
              </a:ext>
            </a:extLst>
          </p:cNvPr>
          <p:cNvSpPr>
            <a:spLocks noGrp="1"/>
          </p:cNvSpPr>
          <p:nvPr>
            <p:ph type="title"/>
          </p:nvPr>
        </p:nvSpPr>
        <p:spPr>
          <a:xfrm>
            <a:off x="675957" y="370589"/>
            <a:ext cx="2981643" cy="830997"/>
          </a:xfrm>
        </p:spPr>
        <p:txBody>
          <a:bodyPr>
            <a:normAutofit/>
          </a:bodyPr>
          <a:lstStyle/>
          <a:p>
            <a:r>
              <a:rPr lang="en-GB" sz="4000" dirty="0">
                <a:latin typeface="Times New Roman" panose="02020603050405020304" pitchFamily="18" charset="0"/>
                <a:cs typeface="Times New Roman" panose="02020603050405020304" pitchFamily="18" charset="0"/>
              </a:rPr>
              <a:t>RESULTS</a:t>
            </a:r>
            <a:r>
              <a:rPr lang="en-GB" dirty="0"/>
              <a:t> </a:t>
            </a:r>
            <a:endParaRPr lang="en-IN" dirty="0"/>
          </a:p>
        </p:txBody>
      </p:sp>
      <p:sp>
        <p:nvSpPr>
          <p:cNvPr id="7" name="Text Placeholder 30">
            <a:extLst>
              <a:ext uri="{FF2B5EF4-FFF2-40B4-BE49-F238E27FC236}">
                <a16:creationId xmlns:a16="http://schemas.microsoft.com/office/drawing/2014/main" id="{D224F8B1-34DD-5A54-7F70-25EBA532E6E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5A36120-3EFF-6A69-8D23-42BFD883ADDA}"/>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2B7B89A1-9444-8322-CADC-42D31D698FA8}"/>
              </a:ext>
            </a:extLst>
          </p:cNvPr>
          <p:cNvSpPr>
            <a:spLocks noGrp="1"/>
          </p:cNvSpPr>
          <p:nvPr>
            <p:ph type="body" sz="quarter" idx="12"/>
          </p:nvPr>
        </p:nvSpPr>
        <p:spPr>
          <a:xfrm>
            <a:off x="807164" y="1431693"/>
            <a:ext cx="4275138" cy="477520"/>
          </a:xfrm>
        </p:spPr>
        <p:txBody>
          <a:bodyPr/>
          <a:lstStyle/>
          <a:p>
            <a:pPr marL="0" indent="0">
              <a:buNone/>
            </a:pPr>
            <a:r>
              <a:rPr lang="en-US" dirty="0"/>
              <a:t>[Add screen shots of your code ]</a:t>
            </a:r>
            <a:endParaRPr lang="en-IN" dirty="0"/>
          </a:p>
        </p:txBody>
      </p:sp>
      <p:pic>
        <p:nvPicPr>
          <p:cNvPr id="3" name="Picture 2">
            <a:extLst>
              <a:ext uri="{FF2B5EF4-FFF2-40B4-BE49-F238E27FC236}">
                <a16:creationId xmlns:a16="http://schemas.microsoft.com/office/drawing/2014/main" id="{B7E02CBA-5439-804F-4D05-E4B6192F4EB0}"/>
              </a:ext>
            </a:extLst>
          </p:cNvPr>
          <p:cNvPicPr>
            <a:picLocks noChangeAspect="1"/>
          </p:cNvPicPr>
          <p:nvPr/>
        </p:nvPicPr>
        <p:blipFill>
          <a:blip r:embed="rId3"/>
          <a:stretch>
            <a:fillRect/>
          </a:stretch>
        </p:blipFill>
        <p:spPr>
          <a:xfrm>
            <a:off x="93356" y="1201586"/>
            <a:ext cx="9977891" cy="5515953"/>
          </a:xfrm>
          <a:prstGeom prst="rect">
            <a:avLst/>
          </a:prstGeom>
        </p:spPr>
      </p:pic>
    </p:spTree>
    <p:extLst>
      <p:ext uri="{BB962C8B-B14F-4D97-AF65-F5344CB8AC3E}">
        <p14:creationId xmlns:p14="http://schemas.microsoft.com/office/powerpoint/2010/main" val="1903979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030C45-6A74-29AD-A5C0-D5F36592DB6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E7611FF-D6E5-400F-ED75-6F5531CFA95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9E35150-35BD-1B1F-9A8C-890DBFDF3B54}"/>
              </a:ext>
            </a:extLst>
          </p:cNvPr>
          <p:cNvSpPr>
            <a:spLocks noGrp="1"/>
          </p:cNvSpPr>
          <p:nvPr>
            <p:ph type="title"/>
          </p:nvPr>
        </p:nvSpPr>
        <p:spPr>
          <a:xfrm>
            <a:off x="675957" y="370589"/>
            <a:ext cx="2981643" cy="830997"/>
          </a:xfrm>
        </p:spPr>
        <p:txBody>
          <a:bodyPr>
            <a:normAutofit/>
          </a:bodyPr>
          <a:lstStyle/>
          <a:p>
            <a:r>
              <a:rPr lang="en-GB" sz="4000" dirty="0">
                <a:latin typeface="Times New Roman" panose="02020603050405020304" pitchFamily="18" charset="0"/>
                <a:cs typeface="Times New Roman" panose="02020603050405020304" pitchFamily="18" charset="0"/>
              </a:rPr>
              <a:t>RESULTS</a:t>
            </a:r>
            <a:r>
              <a:rPr lang="en-GB" dirty="0"/>
              <a:t> </a:t>
            </a:r>
            <a:endParaRPr lang="en-IN" dirty="0"/>
          </a:p>
        </p:txBody>
      </p:sp>
      <p:sp>
        <p:nvSpPr>
          <p:cNvPr id="7" name="Text Placeholder 30">
            <a:extLst>
              <a:ext uri="{FF2B5EF4-FFF2-40B4-BE49-F238E27FC236}">
                <a16:creationId xmlns:a16="http://schemas.microsoft.com/office/drawing/2014/main" id="{5A2A9BCE-A757-223C-2A3D-44341FB27A6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1EED58A7-2CD5-1355-8D1D-DD62A1ED8C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F85C769B-425A-FE3B-E47A-3B747985DC52}"/>
              </a:ext>
            </a:extLst>
          </p:cNvPr>
          <p:cNvSpPr>
            <a:spLocks noGrp="1"/>
          </p:cNvSpPr>
          <p:nvPr>
            <p:ph type="body" sz="quarter" idx="12"/>
          </p:nvPr>
        </p:nvSpPr>
        <p:spPr>
          <a:xfrm>
            <a:off x="807164" y="1431693"/>
            <a:ext cx="4275138" cy="477520"/>
          </a:xfrm>
        </p:spPr>
        <p:txBody>
          <a:bodyPr/>
          <a:lstStyle/>
          <a:p>
            <a:pPr marL="0" indent="0">
              <a:buNone/>
            </a:pPr>
            <a:r>
              <a:rPr lang="en-US" dirty="0"/>
              <a:t>[Add screen shots of your code ]</a:t>
            </a:r>
            <a:endParaRPr lang="en-IN" dirty="0"/>
          </a:p>
        </p:txBody>
      </p:sp>
      <p:pic>
        <p:nvPicPr>
          <p:cNvPr id="3" name="Picture 2">
            <a:extLst>
              <a:ext uri="{FF2B5EF4-FFF2-40B4-BE49-F238E27FC236}">
                <a16:creationId xmlns:a16="http://schemas.microsoft.com/office/drawing/2014/main" id="{9AEBC88F-4AB4-ACEE-661F-55201FA358B3}"/>
              </a:ext>
            </a:extLst>
          </p:cNvPr>
          <p:cNvPicPr>
            <a:picLocks noChangeAspect="1"/>
          </p:cNvPicPr>
          <p:nvPr/>
        </p:nvPicPr>
        <p:blipFill>
          <a:blip r:embed="rId3"/>
          <a:stretch>
            <a:fillRect/>
          </a:stretch>
        </p:blipFill>
        <p:spPr>
          <a:xfrm>
            <a:off x="36573" y="1431693"/>
            <a:ext cx="9798761" cy="5233267"/>
          </a:xfrm>
          <a:prstGeom prst="rect">
            <a:avLst/>
          </a:prstGeom>
        </p:spPr>
      </p:pic>
    </p:spTree>
    <p:extLst>
      <p:ext uri="{BB962C8B-B14F-4D97-AF65-F5344CB8AC3E}">
        <p14:creationId xmlns:p14="http://schemas.microsoft.com/office/powerpoint/2010/main" val="14215222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6E94ED-1743-306E-1CA1-9410A2B5099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4506C61-5206-F1DF-9994-DED24DFB1C6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B097C2C-D75A-31D4-CD9F-366F39CDE51D}"/>
              </a:ext>
            </a:extLst>
          </p:cNvPr>
          <p:cNvSpPr>
            <a:spLocks noGrp="1"/>
          </p:cNvSpPr>
          <p:nvPr>
            <p:ph type="title"/>
          </p:nvPr>
        </p:nvSpPr>
        <p:spPr>
          <a:xfrm>
            <a:off x="320983" y="1670096"/>
            <a:ext cx="8938632" cy="5187904"/>
          </a:xfrm>
        </p:spPr>
        <p:txBody>
          <a:bodyPr>
            <a:normAutofit/>
          </a:bodyPr>
          <a:lstStyle/>
          <a:p>
            <a:pPr marL="342900" indent="-342900">
              <a:buFont typeface="Arial" panose="020B0604020202020204" pitchFamily="34" charset="0"/>
              <a:buChar char="•"/>
            </a:pPr>
            <a:r>
              <a:rPr lang="en-US" sz="2000" b="0" dirty="0">
                <a:latin typeface="Times New Roman" panose="02020603050405020304" pitchFamily="18" charset="0"/>
                <a:cs typeface="Times New Roman" panose="02020603050405020304" pitchFamily="18" charset="0"/>
              </a:rPr>
              <a:t>Predictive Price &amp; Demand Forecasting Models  </a:t>
            </a:r>
            <a:br>
              <a:rPr lang="en-US" sz="2000" b="0" dirty="0">
                <a:latin typeface="Times New Roman" panose="02020603050405020304" pitchFamily="18" charset="0"/>
                <a:cs typeface="Times New Roman" panose="02020603050405020304" pitchFamily="18" charset="0"/>
              </a:rPr>
            </a:br>
            <a:r>
              <a:rPr lang="en-IN" sz="2000" b="0" dirty="0">
                <a:latin typeface="Times New Roman" panose="02020603050405020304" pitchFamily="18" charset="0"/>
                <a:cs typeface="Times New Roman" panose="02020603050405020304" pitchFamily="18" charset="0"/>
              </a:rPr>
              <a:t>Soil Nutrient &amp; Crop Rotation Optimization</a:t>
            </a:r>
            <a:br>
              <a:rPr lang="en-IN" sz="2000" b="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Contract Farming </a:t>
            </a:r>
            <a:r>
              <a:rPr lang="en-US" sz="2000" b="0" dirty="0">
                <a:latin typeface="Times New Roman" panose="02020603050405020304" pitchFamily="18" charset="0"/>
                <a:cs typeface="Times New Roman" panose="02020603050405020304" pitchFamily="18" charset="0"/>
              </a:rPr>
              <a:t>&amp; Direct-to-Consumer Channel Planning: Expand the analysis to evaluate alternative sales channels, helping farm cooperatives</a:t>
            </a:r>
            <a:br>
              <a:rPr lang="en-US" sz="2000" b="0" dirty="0">
                <a:latin typeface="Times New Roman" panose="02020603050405020304" pitchFamily="18" charset="0"/>
                <a:cs typeface="Times New Roman" panose="02020603050405020304" pitchFamily="18" charset="0"/>
              </a:rPr>
            </a:br>
            <a:r>
              <a:rPr lang="en-IN" sz="2000" b="0" dirty="0">
                <a:latin typeface="Times New Roman" panose="02020603050405020304" pitchFamily="18" charset="0"/>
                <a:cs typeface="Times New Roman" panose="02020603050405020304" pitchFamily="18" charset="0"/>
              </a:rPr>
              <a:t>Storage &amp; Cold-Chain Logistics Optimization</a:t>
            </a:r>
            <a:br>
              <a:rPr lang="en-IN" sz="2000" b="0" dirty="0">
                <a:latin typeface="Times New Roman" panose="02020603050405020304" pitchFamily="18" charset="0"/>
                <a:cs typeface="Times New Roman" panose="02020603050405020304" pitchFamily="18" charset="0"/>
              </a:rPr>
            </a:br>
            <a:r>
              <a:rPr lang="en-US" sz="2000" b="0" dirty="0">
                <a:latin typeface="Times New Roman" panose="02020603050405020304" pitchFamily="18" charset="0"/>
                <a:cs typeface="Times New Roman" panose="02020603050405020304" pitchFamily="18" charset="0"/>
              </a:rPr>
              <a:t>integrations of Satellite &amp; Remote Sensing Data: Combine crop yield patterns with satellite imagery (like Sentinel or Landsat) to monitor crop growth health, estimate harvest timing early, and predict seasonal market supply surges before crops leave the field</a:t>
            </a:r>
            <a:br>
              <a:rPr lang="en-IN" sz="2000" b="0" dirty="0">
                <a:latin typeface="Times New Roman" panose="02020603050405020304" pitchFamily="18" charset="0"/>
                <a:cs typeface="Times New Roman" panose="02020603050405020304" pitchFamily="18" charset="0"/>
              </a:rPr>
            </a:br>
            <a:endParaRPr lang="en-IN" sz="2000" b="0" dirty="0">
              <a:latin typeface="Times New Roman" panose="02020603050405020304" pitchFamily="18" charset="0"/>
              <a:cs typeface="Times New Roman" panose="02020603050405020304" pitchFamily="18" charset="0"/>
            </a:endParaRPr>
          </a:p>
        </p:txBody>
      </p:sp>
      <p:sp>
        <p:nvSpPr>
          <p:cNvPr id="7" name="Text Placeholder 30">
            <a:extLst>
              <a:ext uri="{FF2B5EF4-FFF2-40B4-BE49-F238E27FC236}">
                <a16:creationId xmlns:a16="http://schemas.microsoft.com/office/drawing/2014/main" id="{B7444DDE-63A3-9721-77CC-C93FED110DAF}"/>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C8A8B73-0C64-E012-F561-D7FE5E322230}"/>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2" name="TextBox 1">
            <a:extLst>
              <a:ext uri="{FF2B5EF4-FFF2-40B4-BE49-F238E27FC236}">
                <a16:creationId xmlns:a16="http://schemas.microsoft.com/office/drawing/2014/main" id="{C6B420D8-5D27-C7A6-B537-1726FEE6F3E4}"/>
              </a:ext>
            </a:extLst>
          </p:cNvPr>
          <p:cNvSpPr txBox="1"/>
          <p:nvPr/>
        </p:nvSpPr>
        <p:spPr>
          <a:xfrm>
            <a:off x="441434" y="483476"/>
            <a:ext cx="4960883" cy="707886"/>
          </a:xfrm>
          <a:prstGeom prst="rect">
            <a:avLst/>
          </a:prstGeom>
          <a:noFill/>
        </p:spPr>
        <p:txBody>
          <a:bodyPr wrap="square" rtlCol="0">
            <a:spAutoFit/>
          </a:bodyPr>
          <a:lstStyle/>
          <a:p>
            <a:r>
              <a:rPr lang="en-IN" sz="4000" b="1" dirty="0">
                <a:latin typeface="Times New Roman" panose="02020603050405020304" pitchFamily="18" charset="0"/>
                <a:cs typeface="Times New Roman" panose="02020603050405020304" pitchFamily="18" charset="0"/>
              </a:rPr>
              <a:t>FUTURE SCOPE</a:t>
            </a:r>
          </a:p>
        </p:txBody>
      </p:sp>
    </p:spTree>
    <p:extLst>
      <p:ext uri="{BB962C8B-B14F-4D97-AF65-F5344CB8AC3E}">
        <p14:creationId xmlns:p14="http://schemas.microsoft.com/office/powerpoint/2010/main" val="776828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7316CE-193E-3D5D-C15A-98517303A13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D44118A-0276-9E2F-E0E8-85CEE9F1E0C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01A2257-2F98-CB88-038E-C0F1D0A1A363}"/>
              </a:ext>
            </a:extLst>
          </p:cNvPr>
          <p:cNvSpPr>
            <a:spLocks noGrp="1"/>
          </p:cNvSpPr>
          <p:nvPr>
            <p:ph type="title"/>
          </p:nvPr>
        </p:nvSpPr>
        <p:spPr>
          <a:xfrm>
            <a:off x="788275" y="977713"/>
            <a:ext cx="4623479" cy="223873"/>
          </a:xfrm>
        </p:spPr>
        <p:txBody>
          <a:bodyPr>
            <a:noAutofit/>
          </a:bodyPr>
          <a:lstStyle/>
          <a:p>
            <a:r>
              <a:rPr lang="en-IN" sz="4000" dirty="0">
                <a:latin typeface="Times New Roman" panose="02020603050405020304" pitchFamily="18" charset="0"/>
                <a:cs typeface="Times New Roman" panose="02020603050405020304" pitchFamily="18" charset="0"/>
              </a:rPr>
              <a:t>GITHUB LINK</a:t>
            </a:r>
          </a:p>
        </p:txBody>
      </p:sp>
      <p:sp>
        <p:nvSpPr>
          <p:cNvPr id="7" name="Text Placeholder 30">
            <a:extLst>
              <a:ext uri="{FF2B5EF4-FFF2-40B4-BE49-F238E27FC236}">
                <a16:creationId xmlns:a16="http://schemas.microsoft.com/office/drawing/2014/main" id="{AF1C8809-654A-4DD1-BB18-87B8B6C020B9}"/>
              </a:ext>
            </a:extLst>
          </p:cNvPr>
          <p:cNvSpPr txBox="1">
            <a:spLocks/>
          </p:cNvSpPr>
          <p:nvPr/>
        </p:nvSpPr>
        <p:spPr>
          <a:xfrm>
            <a:off x="320982" y="893379"/>
            <a:ext cx="3662439" cy="1048070"/>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F7D0B46-DEEA-1B5E-FE84-59D11F3B110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3" name="TextBox 2">
            <a:extLst>
              <a:ext uri="{FF2B5EF4-FFF2-40B4-BE49-F238E27FC236}">
                <a16:creationId xmlns:a16="http://schemas.microsoft.com/office/drawing/2014/main" id="{5F0B37E4-66B1-8633-7266-68B321742757}"/>
              </a:ext>
            </a:extLst>
          </p:cNvPr>
          <p:cNvSpPr txBox="1"/>
          <p:nvPr/>
        </p:nvSpPr>
        <p:spPr>
          <a:xfrm>
            <a:off x="788275" y="2239107"/>
            <a:ext cx="9101959" cy="400110"/>
          </a:xfrm>
          <a:prstGeom prst="rect">
            <a:avLst/>
          </a:prstGeom>
          <a:noFill/>
        </p:spPr>
        <p:txBody>
          <a:bodyPr wrap="square">
            <a:spAutoFit/>
          </a:bodyPr>
          <a:lstStyle/>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hlinkClick r:id="rId3" action="ppaction://hlinksldjump"/>
              </a:rPr>
              <a:t>https://github.com/madapuindraja/Seasonal_Agriculture_Performance_Analysis</a:t>
            </a: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63610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66297-EA5A-44FA-6968-26D32B9B1EA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B12FC48-BC6E-8635-A49E-73EF17CEDC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42B692F6-18B4-BC16-EA0C-48FFBD5621DF}"/>
              </a:ext>
            </a:extLst>
          </p:cNvPr>
          <p:cNvSpPr>
            <a:spLocks noGrp="1"/>
          </p:cNvSpPr>
          <p:nvPr>
            <p:ph type="title"/>
          </p:nvPr>
        </p:nvSpPr>
        <p:spPr>
          <a:xfrm>
            <a:off x="320982" y="193040"/>
            <a:ext cx="11366521" cy="6101332"/>
          </a:xfrm>
        </p:spPr>
        <p:txBody>
          <a:bodyPr>
            <a:normAutofit/>
          </a:bodyPr>
          <a:lstStyle/>
          <a:p>
            <a:r>
              <a:rPr lang="en-IN" sz="4000" dirty="0">
                <a:latin typeface="Times New Roman" panose="02020603050405020304" pitchFamily="18" charset="0"/>
                <a:cs typeface="Times New Roman" panose="02020603050405020304" pitchFamily="18" charset="0"/>
              </a:rPr>
              <a:t>VOIS Course completion certificate - </a:t>
            </a:r>
            <a:br>
              <a:rPr lang="en-IN" sz="4000" dirty="0">
                <a:latin typeface="Times New Roman" panose="02020603050405020304" pitchFamily="18" charset="0"/>
                <a:cs typeface="Times New Roman" panose="02020603050405020304" pitchFamily="18" charset="0"/>
              </a:rPr>
            </a:br>
            <a:r>
              <a:rPr lang="en-IN" sz="4000" dirty="0">
                <a:latin typeface="Times New Roman" panose="02020603050405020304" pitchFamily="18" charset="0"/>
                <a:cs typeface="Times New Roman" panose="02020603050405020304" pitchFamily="18" charset="0"/>
              </a:rPr>
              <a:t>Course name- Data Visualization </a:t>
            </a:r>
          </a:p>
        </p:txBody>
      </p:sp>
      <p:sp>
        <p:nvSpPr>
          <p:cNvPr id="7" name="Text Placeholder 30">
            <a:extLst>
              <a:ext uri="{FF2B5EF4-FFF2-40B4-BE49-F238E27FC236}">
                <a16:creationId xmlns:a16="http://schemas.microsoft.com/office/drawing/2014/main" id="{069BD300-7A70-B076-3B4C-43081E893162}"/>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8C1854F2-9914-C22F-FF0B-693CD1D0F966}"/>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9" name="Picture 8">
            <a:extLst>
              <a:ext uri="{FF2B5EF4-FFF2-40B4-BE49-F238E27FC236}">
                <a16:creationId xmlns:a16="http://schemas.microsoft.com/office/drawing/2014/main" id="{8F98A4D9-5B12-FF66-3DD0-67B9972E7F7E}"/>
              </a:ext>
            </a:extLst>
          </p:cNvPr>
          <p:cNvPicPr>
            <a:picLocks noChangeAspect="1"/>
          </p:cNvPicPr>
          <p:nvPr/>
        </p:nvPicPr>
        <p:blipFill>
          <a:blip r:embed="rId3"/>
          <a:stretch>
            <a:fillRect/>
          </a:stretch>
        </p:blipFill>
        <p:spPr>
          <a:xfrm>
            <a:off x="975809" y="1643997"/>
            <a:ext cx="7127749" cy="5020963"/>
          </a:xfrm>
          <a:prstGeom prst="rect">
            <a:avLst/>
          </a:prstGeom>
        </p:spPr>
      </p:pic>
    </p:spTree>
    <p:extLst>
      <p:ext uri="{BB962C8B-B14F-4D97-AF65-F5344CB8AC3E}">
        <p14:creationId xmlns:p14="http://schemas.microsoft.com/office/powerpoint/2010/main" val="3962802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88C20CF-C1EE-4092-B52D-FD4AB2AB2508}"/>
              </a:ext>
            </a:extLst>
          </p:cNvPr>
          <p:cNvSpPr>
            <a:spLocks noGrp="1"/>
          </p:cNvSpPr>
          <p:nvPr>
            <p:ph type="title"/>
          </p:nvPr>
        </p:nvSpPr>
        <p:spPr>
          <a:xfrm>
            <a:off x="432000" y="1534510"/>
            <a:ext cx="8964248" cy="3384330"/>
          </a:xfrm>
          <a:prstGeom prst="rect">
            <a:avLst/>
          </a:prstGeom>
        </p:spPr>
        <p:txBody>
          <a:bodyPr anchor="ctr">
            <a:normAutofit/>
          </a:bodyPr>
          <a:lstStyle/>
          <a:p>
            <a:pPr algn="ctr"/>
            <a:r>
              <a:rPr lang="en-US" sz="4800" b="1" dirty="0">
                <a:solidFill>
                  <a:schemeClr val="tx1"/>
                </a:solidFill>
                <a:latin typeface="Times New Roman" panose="02020603050405020304" pitchFamily="18" charset="0"/>
                <a:cs typeface="Times New Roman" panose="02020603050405020304" pitchFamily="18" charset="0"/>
              </a:rPr>
              <a:t>THANK YOU</a:t>
            </a:r>
          </a:p>
        </p:txBody>
      </p:sp>
      <p:sp>
        <p:nvSpPr>
          <p:cNvPr id="31" name="Text Placeholder 30">
            <a:extLst>
              <a:ext uri="{FF2B5EF4-FFF2-40B4-BE49-F238E27FC236}">
                <a16:creationId xmlns:a16="http://schemas.microsoft.com/office/drawing/2014/main" id="{97AB1F14-3A1E-4057-A473-9975BA59F012}"/>
              </a:ext>
            </a:extLst>
          </p:cNvPr>
          <p:cNvSpPr>
            <a:spLocks noGrp="1"/>
          </p:cNvSpPr>
          <p:nvPr>
            <p:ph type="body" sz="quarter" idx="13"/>
          </p:nvPr>
        </p:nvSpPr>
        <p:spPr>
          <a:xfrm>
            <a:off x="3727865" y="4641925"/>
            <a:ext cx="2139695" cy="1108635"/>
          </a:xfrm>
        </p:spPr>
        <p:txBody>
          <a:bodyPr>
            <a:normAutofit/>
          </a:bodyPr>
          <a:lstStyle/>
          <a:p>
            <a:r>
              <a:rPr lang="en-US" dirty="0"/>
              <a:t>.</a:t>
            </a:r>
          </a:p>
        </p:txBody>
      </p:sp>
      <p:sp>
        <p:nvSpPr>
          <p:cNvPr id="17" name="Text Placeholder 28">
            <a:extLst>
              <a:ext uri="{FF2B5EF4-FFF2-40B4-BE49-F238E27FC236}">
                <a16:creationId xmlns:a16="http://schemas.microsoft.com/office/drawing/2014/main"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1">
                                            <p:txEl>
                                              <p:pRg st="0" end="0"/>
                                            </p:txEl>
                                          </p:spTgt>
                                        </p:tgtEl>
                                        <p:attrNameLst>
                                          <p:attrName>style.visibility</p:attrName>
                                        </p:attrNameLst>
                                      </p:cBhvr>
                                      <p:to>
                                        <p:strVal val="visible"/>
                                      </p:to>
                                    </p:set>
                                    <p:anim calcmode="lin" valueType="num">
                                      <p:cBhvr additive="base">
                                        <p:cTn id="20"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31">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500"/>
                                        <p:tgtEl>
                                          <p:spTgt spid="20"/>
                                        </p:tgtEl>
                                        <p:attrNameLst>
                                          <p:attrName>ppt_y</p:attrName>
                                        </p:attrNameLst>
                                      </p:cBhvr>
                                      <p:tavLst>
                                        <p:tav tm="0">
                                          <p:val>
                                            <p:strVal val="#ppt_y+#ppt_h*1.125000"/>
                                          </p:val>
                                        </p:tav>
                                        <p:tav tm="100000">
                                          <p:val>
                                            <p:strVal val="#ppt_y"/>
                                          </p:val>
                                        </p:tav>
                                      </p:tavLst>
                                    </p:anim>
                                    <p:animEffect transition="in" filter="wipe(up)">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30"/>
                                        </p:tgtEl>
                                        <p:attrNameLst>
                                          <p:attrName>style.visibility</p:attrName>
                                        </p:attrNameLst>
                                      </p:cBhvr>
                                      <p:to>
                                        <p:strVal val="visible"/>
                                      </p:to>
                                    </p:set>
                                    <p:anim calcmode="lin" valueType="num">
                                      <p:cBhvr additive="base">
                                        <p:cTn id="32" dur="500"/>
                                        <p:tgtEl>
                                          <p:spTgt spid="30"/>
                                        </p:tgtEl>
                                        <p:attrNameLst>
                                          <p:attrName>ppt_y</p:attrName>
                                        </p:attrNameLst>
                                      </p:cBhvr>
                                      <p:tavLst>
                                        <p:tav tm="0">
                                          <p:val>
                                            <p:strVal val="#ppt_y+#ppt_h*1.125000"/>
                                          </p:val>
                                        </p:tav>
                                        <p:tav tm="100000">
                                          <p:val>
                                            <p:strVal val="#ppt_y"/>
                                          </p:val>
                                        </p:tav>
                                      </p:tavLst>
                                    </p:anim>
                                    <p:animEffect transition="in" filter="wipe(up)">
                                      <p:cBhvr>
                                        <p:cTn id="33" dur="500"/>
                                        <p:tgtEl>
                                          <p:spTgt spid="30"/>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nodePh="1">
                                  <p:stCondLst>
                                    <p:cond delay="0"/>
                                  </p:stCondLst>
                                  <p:endCondLst>
                                    <p:cond evt="begin" delay="0">
                                      <p:tn val="36"/>
                                    </p:cond>
                                  </p:end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500"/>
                                        <p:tgtEl>
                                          <p:spTgt spid="23"/>
                                        </p:tgtEl>
                                        <p:attrNameLst>
                                          <p:attrName>ppt_y</p:attrName>
                                        </p:attrNameLst>
                                      </p:cBhvr>
                                      <p:tavLst>
                                        <p:tav tm="0">
                                          <p:val>
                                            <p:strVal val="#ppt_y+#ppt_h*1.125000"/>
                                          </p:val>
                                        </p:tav>
                                        <p:tav tm="100000">
                                          <p:val>
                                            <p:strVal val="#ppt_y"/>
                                          </p:val>
                                        </p:tav>
                                      </p:tavLst>
                                    </p:anim>
                                    <p:animEffect transition="in" filter="wipe(up)">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32"/>
                                        </p:tgtEl>
                                        <p:attrNameLst>
                                          <p:attrName>style.visibility</p:attrName>
                                        </p:attrNameLst>
                                      </p:cBhvr>
                                      <p:to>
                                        <p:strVal val="visible"/>
                                      </p:to>
                                    </p:set>
                                    <p:anim calcmode="lin" valueType="num">
                                      <p:cBhvr additive="base">
                                        <p:cTn id="44" dur="500"/>
                                        <p:tgtEl>
                                          <p:spTgt spid="32"/>
                                        </p:tgtEl>
                                        <p:attrNameLst>
                                          <p:attrName>ppt_y</p:attrName>
                                        </p:attrNameLst>
                                      </p:cBhvr>
                                      <p:tavLst>
                                        <p:tav tm="0">
                                          <p:val>
                                            <p:strVal val="#ppt_y+#ppt_h*1.125000"/>
                                          </p:val>
                                        </p:tav>
                                        <p:tav tm="100000">
                                          <p:val>
                                            <p:strVal val="#ppt_y"/>
                                          </p:val>
                                        </p:tav>
                                      </p:tavLst>
                                    </p:anim>
                                    <p:animEffect transition="in" filter="wipe(up)">
                                      <p:cBhvr>
                                        <p:cTn id="4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4DEA9014-ED64-4558-B1E1-D03F0EE32BEB}">
  <ds:schemaRefs>
    <ds:schemaRef ds:uri="http://schemas.microsoft.com/office/2006/metadata/properties"/>
    <ds:schemaRef ds:uri="http://schemas.microsoft.com/office/infopath/2007/PartnerControls"/>
    <ds:schemaRef ds:uri="71af3243-3dd4-4a8d-8c0d-dd76da1f02a5"/>
  </ds:schemaRefs>
</ds:datastoreItem>
</file>

<file path=customXml/itemProps3.xml><?xml version="1.0" encoding="utf-8"?>
<ds:datastoreItem xmlns:ds="http://schemas.openxmlformats.org/officeDocument/2006/customXml" ds:itemID="{05D99ABA-76CE-4A8E-B5F0-C051B96628DE}">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Facet</Template>
  <TotalTime>1634</TotalTime>
  <Words>611</Words>
  <Application>Microsoft Office PowerPoint</Application>
  <PresentationFormat>Widescreen</PresentationFormat>
  <Paragraphs>39</Paragraphs>
  <Slides>14</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14</vt:i4>
      </vt:variant>
    </vt:vector>
  </HeadingPairs>
  <TitlesOfParts>
    <vt:vector size="21" baseType="lpstr">
      <vt:lpstr>Arial</vt:lpstr>
      <vt:lpstr>Calibri</vt:lpstr>
      <vt:lpstr>Times New Roman</vt:lpstr>
      <vt:lpstr>Trebuchet MS</vt:lpstr>
      <vt:lpstr>Wingdings</vt:lpstr>
      <vt:lpstr>Wingdings 3</vt:lpstr>
      <vt:lpstr>Facet</vt:lpstr>
      <vt:lpstr>Project Title – seasonal agricultural performance analysis</vt:lpstr>
      <vt:lpstr>PROBLEM  STATEMENT</vt:lpstr>
      <vt:lpstr>PROJECT DESCRIPTION   </vt:lpstr>
      <vt:lpstr>WHO ARE THE END USERS?</vt:lpstr>
      <vt:lpstr>TECHNOLOGY USED</vt:lpstr>
      <vt:lpstr>RESULTS </vt:lpstr>
      <vt:lpstr>RESULTS </vt:lpstr>
      <vt:lpstr>RESULTS </vt:lpstr>
      <vt:lpstr>RESULTS </vt:lpstr>
      <vt:lpstr>RESULTS </vt:lpstr>
      <vt:lpstr>Predictive Price &amp; Demand Forecasting Models   Soil Nutrient &amp; Crop Rotation Optimization Contract Farming &amp; Direct-to-Consumer Channel Planning: Expand the analysis to evaluate alternative sales channels, helping farm cooperatives Storage &amp; Cold-Chain Logistics Optimization integrations of Satellite &amp; Remote Sensing Data: Combine crop yield patterns with satellite imagery (like Sentinel or Landsat) to monitor crop growth health, estimate harvest timing early, and predict seasonal market supply surges before crops leave the field </vt:lpstr>
      <vt:lpstr>GITHUB LINK</vt:lpstr>
      <vt:lpstr>VOIS Course completion certificate -  Course name- Data Visualization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madapusupraja@outlook.com</cp:lastModifiedBy>
  <cp:revision>127</cp:revision>
  <dcterms:created xsi:type="dcterms:W3CDTF">2021-07-11T13:13:15Z</dcterms:created>
  <dcterms:modified xsi:type="dcterms:W3CDTF">2026-09-14T13:48:36Z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